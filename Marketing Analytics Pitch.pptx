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2" r:id="rId1"/>
  </p:sldMasterIdLst>
  <p:sldIdLst>
    <p:sldId id="259" r:id="rId2"/>
    <p:sldId id="260" r:id="rId3"/>
    <p:sldId id="268" r:id="rId4"/>
    <p:sldId id="262" r:id="rId5"/>
    <p:sldId id="263" r:id="rId6"/>
    <p:sldId id="2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731"/>
  </p:normalViewPr>
  <p:slideViewPr>
    <p:cSldViewPr snapToGrid="0" snapToObjects="1">
      <p:cViewPr varScale="1">
        <p:scale>
          <a:sx n="195" d="100"/>
          <a:sy n="195" d="100"/>
        </p:scale>
        <p:origin x="3077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eron Bale" userId="35939576546_tp_box_2" providerId="OAuth2" clId="{A580C4BD-3671-4B6A-82BE-C6B8E20F3ACE}"/>
    <pc:docChg chg="modSld">
      <pc:chgData name="Cameron Bale" userId="35939576546_tp_box_2" providerId="OAuth2" clId="{A580C4BD-3671-4B6A-82BE-C6B8E20F3ACE}" dt="2025-11-04T19:22:43.368" v="142" actId="20577"/>
      <pc:docMkLst>
        <pc:docMk/>
      </pc:docMkLst>
      <pc:sldChg chg="modSp mod">
        <pc:chgData name="Cameron Bale" userId="35939576546_tp_box_2" providerId="OAuth2" clId="{A580C4BD-3671-4B6A-82BE-C6B8E20F3ACE}" dt="2025-11-04T19:22:43.368" v="142" actId="20577"/>
        <pc:sldMkLst>
          <pc:docMk/>
          <pc:sldMk cId="3789221851" sldId="265"/>
        </pc:sldMkLst>
        <pc:spChg chg="mod">
          <ac:chgData name="Cameron Bale" userId="35939576546_tp_box_2" providerId="OAuth2" clId="{A580C4BD-3671-4B6A-82BE-C6B8E20F3ACE}" dt="2025-11-04T19:22:43.368" v="142" actId="20577"/>
          <ac:spMkLst>
            <pc:docMk/>
            <pc:sldMk cId="3789221851" sldId="265"/>
            <ac:spMk id="9" creationId="{2D920548-F85E-0E4F-8E8A-33D330FB7C67}"/>
          </ac:spMkLst>
        </pc:spChg>
      </pc:sldChg>
      <pc:sldChg chg="modSp mod">
        <pc:chgData name="Cameron Bale" userId="35939576546_tp_box_2" providerId="OAuth2" clId="{A580C4BD-3671-4B6A-82BE-C6B8E20F3ACE}" dt="2025-11-04T19:18:29.161" v="11" actId="20577"/>
        <pc:sldMkLst>
          <pc:docMk/>
          <pc:sldMk cId="916136108" sldId="268"/>
        </pc:sldMkLst>
        <pc:spChg chg="mod">
          <ac:chgData name="Cameron Bale" userId="35939576546_tp_box_2" providerId="OAuth2" clId="{A580C4BD-3671-4B6A-82BE-C6B8E20F3ACE}" dt="2025-11-04T19:18:29.161" v="11" actId="20577"/>
          <ac:spMkLst>
            <pc:docMk/>
            <pc:sldMk cId="916136108" sldId="268"/>
            <ac:spMk id="2" creationId="{65436555-9CD7-0B06-283E-99E3DDC2D42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541-427A-4F4A-BACC-C1EE5F2AB0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00E1-EDA5-FD4F-A448-DDFA65E1D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70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541-427A-4F4A-BACC-C1EE5F2AB0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00E1-EDA5-FD4F-A448-DDFA65E1D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86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541-427A-4F4A-BACC-C1EE5F2AB0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00E1-EDA5-FD4F-A448-DDFA65E1D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864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541-427A-4F4A-BACC-C1EE5F2AB0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00E1-EDA5-FD4F-A448-DDFA65E1D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491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541-427A-4F4A-BACC-C1EE5F2AB0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00E1-EDA5-FD4F-A448-DDFA65E1D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78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541-427A-4F4A-BACC-C1EE5F2AB0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00E1-EDA5-FD4F-A448-DDFA65E1D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110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541-427A-4F4A-BACC-C1EE5F2AB0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00E1-EDA5-FD4F-A448-DDFA65E1D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260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541-427A-4F4A-BACC-C1EE5F2AB0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00E1-EDA5-FD4F-A448-DDFA65E1D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452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541-427A-4F4A-BACC-C1EE5F2AB0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00E1-EDA5-FD4F-A448-DDFA65E1D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541-427A-4F4A-BACC-C1EE5F2AB0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00E1-EDA5-FD4F-A448-DDFA65E1D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66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541-427A-4F4A-BACC-C1EE5F2AB0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A00E1-EDA5-FD4F-A448-DDFA65E1D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06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B5541-427A-4F4A-BACC-C1EE5F2AB0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A00E1-EDA5-FD4F-A448-DDFA65E1D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06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hbr.org/2016/09/know-your-customers-jobs-to-be-done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zerogravitymarketing.com/blog/google-phases-out-third-party-data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pixnio.com/food-and-drink/desserts-cakes/biscuits-and-cookies-pictures/cookie-chocolate-breakfast-delicious-sweet-sugar-homemade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martech.org/why-first-party-data-still-reigns-even-with-google-keeping-third-party-cookies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arketingweek.com/marketers-data-analysis-skills-gap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EFEEAB-88D4-A649-B752-F9735C45E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MKTG 411 Marketing Analytics</a:t>
            </a:r>
            <a:br>
              <a:rPr lang="en-US" dirty="0"/>
            </a:br>
            <a:r>
              <a:rPr lang="en-US" sz="2600" dirty="0">
                <a:latin typeface="+mn-lt"/>
              </a:rPr>
              <a:t>Use </a:t>
            </a:r>
            <a:r>
              <a:rPr lang="en-US" sz="2600" b="1" dirty="0">
                <a:solidFill>
                  <a:srgbClr val="002060"/>
                </a:solidFill>
                <a:latin typeface="+mn-lt"/>
              </a:rPr>
              <a:t>data</a:t>
            </a:r>
            <a:r>
              <a:rPr lang="en-US" sz="2600" b="1" dirty="0">
                <a:latin typeface="+mn-lt"/>
              </a:rPr>
              <a:t> </a:t>
            </a:r>
            <a:r>
              <a:rPr lang="en-US" sz="2600" dirty="0">
                <a:latin typeface="+mn-lt"/>
              </a:rPr>
              <a:t>to</a:t>
            </a:r>
            <a:r>
              <a:rPr lang="en-US" sz="2600" b="1" dirty="0">
                <a:latin typeface="+mn-lt"/>
              </a:rPr>
              <a:t> </a:t>
            </a:r>
            <a:r>
              <a:rPr lang="en-US" sz="2600" b="1" dirty="0">
                <a:solidFill>
                  <a:srgbClr val="002060"/>
                </a:solidFill>
                <a:latin typeface="+mn-lt"/>
              </a:rPr>
              <a:t>inform</a:t>
            </a:r>
            <a:r>
              <a:rPr lang="en-US" sz="2600" dirty="0">
                <a:latin typeface="+mn-lt"/>
              </a:rPr>
              <a:t> managerial decision-making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DF730B-1B11-DD47-864D-A3AF94145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9438" y="1825625"/>
            <a:ext cx="442436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analytics_skill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|&gt;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apply() |&gt;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focus() |&gt;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refine() |&gt;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understand() |&gt;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master()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D920548-F85E-0E4F-8E8A-33D330FB7C67}"/>
              </a:ext>
            </a:extLst>
          </p:cNvPr>
          <p:cNvSpPr txBox="1">
            <a:spLocks/>
          </p:cNvSpPr>
          <p:nvPr/>
        </p:nvSpPr>
        <p:spPr>
          <a:xfrm>
            <a:off x="838200" y="1719264"/>
            <a:ext cx="6091238" cy="434841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+mj-lt"/>
              </a:rPr>
              <a:t>Take a </a:t>
            </a:r>
            <a:r>
              <a:rPr lang="en-US" sz="2000" b="1" dirty="0">
                <a:solidFill>
                  <a:srgbClr val="002060"/>
                </a:solidFill>
                <a:latin typeface="+mj-lt"/>
              </a:rPr>
              <a:t>deeper dive</a:t>
            </a:r>
            <a:r>
              <a:rPr lang="en-US" sz="2000" dirty="0">
                <a:latin typeface="+mj-lt"/>
              </a:rPr>
              <a:t> into analytics beyond Marketing Research and Introductory Business Analytics: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Master programming in R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Focus on marketing applications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Refine analytics workflows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Wrangle and visualize data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Run database and API queries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Produce interactive dashboards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Conduct inferential modeling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Predict with machine learning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Automate reporting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Do project-based coursework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Interact in live, in-person classes</a:t>
            </a:r>
            <a:endParaRPr lang="en-US" sz="1600" dirty="0"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D4E58F-D78A-2F42-B3E7-143B43C78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629" y="4643437"/>
            <a:ext cx="1761997" cy="203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32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EFEEAB-88D4-A649-B752-F9735C45E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Theory of Jobs to Be Done</a:t>
            </a:r>
            <a:endParaRPr lang="en-US" sz="2600" dirty="0">
              <a:latin typeface="+mn-lt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D920548-F85E-0E4F-8E8A-33D330FB7C67}"/>
              </a:ext>
            </a:extLst>
          </p:cNvPr>
          <p:cNvSpPr txBox="1">
            <a:spLocks/>
          </p:cNvSpPr>
          <p:nvPr/>
        </p:nvSpPr>
        <p:spPr>
          <a:xfrm>
            <a:off x="838200" y="1719264"/>
            <a:ext cx="9143326" cy="434841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+mj-lt"/>
              </a:rPr>
              <a:t>When customers buy a product, they “hire” it to help them do a job:</a:t>
            </a:r>
          </a:p>
          <a:p>
            <a:pPr marL="0" indent="0" algn="ctr">
              <a:buNone/>
            </a:pPr>
            <a:r>
              <a:rPr lang="en-US" sz="2400" i="1" dirty="0">
                <a:latin typeface="+mj-lt"/>
              </a:rPr>
              <a:t>“What [companies] really need to home in on is the progress that the customer is trying to make in a given circumstance—what the customer hopes to accomplish.”</a:t>
            </a:r>
          </a:p>
          <a:p>
            <a:pPr marL="0" indent="0">
              <a:buNone/>
            </a:pPr>
            <a:endParaRPr lang="en-US" sz="2400" dirty="0">
              <a:latin typeface="+mj-lt"/>
            </a:endParaRPr>
          </a:p>
          <a:p>
            <a:pPr marL="0" indent="0">
              <a:buNone/>
            </a:pPr>
            <a:r>
              <a:rPr lang="en-US" sz="2400" dirty="0">
                <a:latin typeface="+mj-lt"/>
              </a:rPr>
              <a:t>What if </a:t>
            </a:r>
            <a:r>
              <a:rPr lang="en-US" sz="2400" i="1" dirty="0">
                <a:latin typeface="+mj-lt"/>
              </a:rPr>
              <a:t>you</a:t>
            </a:r>
            <a:r>
              <a:rPr lang="en-US" sz="2400" dirty="0">
                <a:latin typeface="+mj-lt"/>
              </a:rPr>
              <a:t> are the product?</a:t>
            </a:r>
          </a:p>
          <a:p>
            <a:pPr marL="0" indent="0">
              <a:buNone/>
            </a:pPr>
            <a:r>
              <a:rPr lang="en-US" sz="2400" dirty="0">
                <a:latin typeface="+mj-lt"/>
              </a:rPr>
              <a:t>What progress is your customer (a potential employer) trying to make?</a:t>
            </a:r>
          </a:p>
          <a:p>
            <a:pPr marL="0" indent="0">
              <a:buNone/>
            </a:pPr>
            <a:endParaRPr lang="en-US" sz="2400" dirty="0">
              <a:latin typeface="+mj-lt"/>
            </a:endParaRPr>
          </a:p>
          <a:p>
            <a:pPr marL="0" indent="0">
              <a:buNone/>
            </a:pPr>
            <a:r>
              <a:rPr lang="en-US" sz="2400" dirty="0">
                <a:latin typeface="+mj-lt"/>
              </a:rPr>
              <a:t>Let’s do some market research…</a:t>
            </a:r>
          </a:p>
          <a:p>
            <a:pPr marL="0" indent="0">
              <a:buNone/>
            </a:pPr>
            <a:endParaRPr lang="en-US" sz="1600" dirty="0">
              <a:latin typeface="+mj-lt"/>
            </a:endParaRPr>
          </a:p>
          <a:p>
            <a:pPr marL="0" indent="0">
              <a:buNone/>
            </a:pPr>
            <a:r>
              <a:rPr lang="en-US" sz="1600" dirty="0">
                <a:latin typeface="+mj-lt"/>
              </a:rPr>
              <a:t>Source: </a:t>
            </a:r>
            <a:r>
              <a:rPr lang="en-US" sz="1600" dirty="0">
                <a:latin typeface="+mj-lt"/>
                <a:hlinkClick r:id="rId2"/>
              </a:rPr>
              <a:t>https://hbr.org/2016/09/know-your-customers-jobs-to-be-done</a:t>
            </a:r>
            <a:endParaRPr lang="en-US" sz="1600" dirty="0"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D4E58F-D78A-2F42-B3E7-143B43C78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629" y="4643437"/>
            <a:ext cx="1761997" cy="203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561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EFEEAB-88D4-A649-B752-F9735C45E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Areas Where Progress Needs to be Made</a:t>
            </a:r>
            <a:endParaRPr lang="en-US" sz="2600" dirty="0">
              <a:latin typeface="+mn-lt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D920548-F85E-0E4F-8E8A-33D330FB7C67}"/>
              </a:ext>
            </a:extLst>
          </p:cNvPr>
          <p:cNvSpPr txBox="1">
            <a:spLocks/>
          </p:cNvSpPr>
          <p:nvPr/>
        </p:nvSpPr>
        <p:spPr>
          <a:xfrm>
            <a:off x="838200" y="1719264"/>
            <a:ext cx="9143326" cy="4348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D4E58F-D78A-2F42-B3E7-143B43C78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629" y="4643437"/>
            <a:ext cx="1761997" cy="2035175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5436555-9CD7-0B06-283E-99E3DDC2D424}"/>
              </a:ext>
            </a:extLst>
          </p:cNvPr>
          <p:cNvSpPr txBox="1">
            <a:spLocks/>
          </p:cNvSpPr>
          <p:nvPr/>
        </p:nvSpPr>
        <p:spPr>
          <a:xfrm>
            <a:off x="990600" y="1871664"/>
            <a:ext cx="9978154" cy="4348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+mj-lt"/>
              </a:rPr>
              <a:t>Goodbye	          , hello </a:t>
            </a:r>
            <a:r>
              <a:rPr lang="en-US" sz="2400" b="1" dirty="0">
                <a:latin typeface="+mj-lt"/>
              </a:rPr>
              <a:t>first-party data</a:t>
            </a:r>
            <a:r>
              <a:rPr lang="en-US" sz="2400" dirty="0">
                <a:latin typeface="+mj-lt"/>
              </a:rPr>
              <a:t> (</a:t>
            </a:r>
            <a:r>
              <a:rPr lang="en-US" sz="2400" dirty="0">
                <a:latin typeface="+mj-lt"/>
                <a:hlinkClick r:id="rId3"/>
              </a:rPr>
              <a:t>Zero Gravity Marketing</a:t>
            </a:r>
            <a:r>
              <a:rPr lang="en-US" sz="2400" dirty="0">
                <a:latin typeface="+mj-lt"/>
              </a:rPr>
              <a:t>, </a:t>
            </a:r>
            <a:r>
              <a:rPr lang="en-US" sz="2400" dirty="0">
                <a:latin typeface="+mj-lt"/>
                <a:hlinkClick r:id="rId4"/>
              </a:rPr>
              <a:t>MARTECH</a:t>
            </a:r>
            <a:r>
              <a:rPr lang="en-US" sz="2400" dirty="0">
                <a:latin typeface="+mj-lt"/>
              </a:rPr>
              <a:t>)</a:t>
            </a:r>
          </a:p>
          <a:p>
            <a:pPr marL="0" indent="0">
              <a:buNone/>
            </a:pPr>
            <a:endParaRPr lang="en-US" sz="2400" dirty="0">
              <a:latin typeface="+mj-lt"/>
            </a:endParaRPr>
          </a:p>
          <a:p>
            <a:r>
              <a:rPr lang="en-US" sz="2400" b="1" dirty="0">
                <a:latin typeface="+mj-lt"/>
              </a:rPr>
              <a:t>Predictive analytics</a:t>
            </a:r>
            <a:r>
              <a:rPr lang="en-US" sz="2400" dirty="0">
                <a:latin typeface="+mj-lt"/>
              </a:rPr>
              <a:t>: anticipate customer behavior and make data-informed decisions before shifts in customer demand</a:t>
            </a:r>
          </a:p>
          <a:p>
            <a:pPr lvl="1"/>
            <a:r>
              <a:rPr lang="en-US" sz="1800" dirty="0">
                <a:latin typeface="+mj-lt"/>
              </a:rPr>
              <a:t>Customer lifetime value prediction</a:t>
            </a:r>
          </a:p>
          <a:p>
            <a:pPr lvl="1"/>
            <a:r>
              <a:rPr lang="en-US" sz="1800" dirty="0">
                <a:latin typeface="+mj-lt"/>
              </a:rPr>
              <a:t>Churn prediction for subscription-based services (</a:t>
            </a:r>
            <a:r>
              <a:rPr lang="en-US" sz="1800" i="1" dirty="0">
                <a:latin typeface="+mj-lt"/>
              </a:rPr>
              <a:t>e.g.</a:t>
            </a:r>
            <a:r>
              <a:rPr lang="en-US" sz="1800" dirty="0">
                <a:latin typeface="+mj-lt"/>
              </a:rPr>
              <a:t>, Spotify, Netflix)</a:t>
            </a:r>
          </a:p>
          <a:p>
            <a:pPr lvl="1"/>
            <a:r>
              <a:rPr lang="en-US" sz="1800" dirty="0">
                <a:latin typeface="+mj-lt"/>
              </a:rPr>
              <a:t>Dynamic pricing optimization (</a:t>
            </a:r>
            <a:r>
              <a:rPr lang="en-US" sz="1800" i="1" dirty="0">
                <a:latin typeface="+mj-lt"/>
              </a:rPr>
              <a:t>e.g.</a:t>
            </a:r>
            <a:r>
              <a:rPr lang="en-US" sz="1800" dirty="0">
                <a:latin typeface="+mj-lt"/>
              </a:rPr>
              <a:t>, Uber, </a:t>
            </a:r>
            <a:r>
              <a:rPr lang="en-US" sz="1800" dirty="0" err="1">
                <a:latin typeface="+mj-lt"/>
              </a:rPr>
              <a:t>AirBnB</a:t>
            </a:r>
            <a:r>
              <a:rPr lang="en-US" sz="1800" dirty="0">
                <a:latin typeface="+mj-lt"/>
              </a:rPr>
              <a:t>)</a:t>
            </a:r>
          </a:p>
          <a:p>
            <a:pPr lvl="1"/>
            <a:r>
              <a:rPr lang="en-US" sz="1800" dirty="0">
                <a:latin typeface="+mj-lt"/>
              </a:rPr>
              <a:t>Segmentation for personalized marketing campaigns</a:t>
            </a:r>
          </a:p>
        </p:txBody>
      </p:sp>
      <p:pic>
        <p:nvPicPr>
          <p:cNvPr id="4" name="Picture 3" descr="A stack of chocolate chip cookies&#10;&#10;Description automatically generated">
            <a:extLst>
              <a:ext uri="{FF2B5EF4-FFF2-40B4-BE49-F238E27FC236}">
                <a16:creationId xmlns:a16="http://schemas.microsoft.com/office/drawing/2014/main" id="{1B8BB71D-E423-DC21-66E1-F3842C9A55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668159" y="1690688"/>
            <a:ext cx="690192" cy="73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36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1A7ED-17F4-15CF-CF96-1744925BD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Marketers Lack Analytics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B2843-500C-625D-075E-323E91EAF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800" dirty="0">
              <a:latin typeface="+mj-lt"/>
            </a:endParaRP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A961D3-5BB9-74F3-836F-48B1B7CD6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967" y="1591431"/>
            <a:ext cx="7089390" cy="3987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355ED4-B0B0-65EA-4081-C53D79D12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964" y="4629964"/>
            <a:ext cx="1761997" cy="2035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8D9662-C5F4-E91D-2C69-5B61780129EB}"/>
              </a:ext>
            </a:extLst>
          </p:cNvPr>
          <p:cNvSpPr txBox="1"/>
          <p:nvPr/>
        </p:nvSpPr>
        <p:spPr>
          <a:xfrm>
            <a:off x="1965434" y="606738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+mj-lt"/>
              </a:rPr>
              <a:t>Source: </a:t>
            </a:r>
            <a:r>
              <a:rPr lang="en-US" sz="1800" dirty="0">
                <a:latin typeface="+mj-lt"/>
                <a:hlinkClick r:id="rId4"/>
              </a:rPr>
              <a:t>https://www.marketingweek.com/marketers-data-analysis-skills-gap/</a:t>
            </a:r>
            <a:endParaRPr 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5964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EFEEAB-88D4-A649-B752-F9735C45E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2379"/>
            <a:ext cx="10515600" cy="78394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Analytics Skills are Well-Compensated!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D920548-F85E-0E4F-8E8A-33D330FB7C67}"/>
              </a:ext>
            </a:extLst>
          </p:cNvPr>
          <p:cNvSpPr txBox="1">
            <a:spLocks/>
          </p:cNvSpPr>
          <p:nvPr/>
        </p:nvSpPr>
        <p:spPr>
          <a:xfrm>
            <a:off x="838199" y="1719264"/>
            <a:ext cx="9046221" cy="4348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>
              <a:latin typeface="+mj-lt"/>
            </a:endParaRPr>
          </a:p>
          <a:p>
            <a:pPr marL="0" indent="0">
              <a:buNone/>
            </a:pPr>
            <a:endParaRPr lang="en-US" sz="1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1FF2FC-6EEC-9824-A317-7473D15D808C}"/>
              </a:ext>
            </a:extLst>
          </p:cNvPr>
          <p:cNvSpPr txBox="1"/>
          <p:nvPr/>
        </p:nvSpPr>
        <p:spPr>
          <a:xfrm>
            <a:off x="8216062" y="799684"/>
            <a:ext cx="3831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Indeed</a:t>
            </a:r>
          </a:p>
        </p:txBody>
      </p:sp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E7F7F793-4B77-1475-6291-27127FBDD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55" y="1547793"/>
            <a:ext cx="7772400" cy="2435452"/>
          </a:xfrm>
          <a:prstGeom prst="rect">
            <a:avLst/>
          </a:prstGeom>
        </p:spPr>
      </p:pic>
      <p:pic>
        <p:nvPicPr>
          <p:cNvPr id="14" name="Picture 1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043A42A9-F2D8-1325-3897-5568A44D1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655" y="4077825"/>
            <a:ext cx="7772400" cy="237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096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EFEEAB-88D4-A649-B752-F9735C45E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953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Make Yourself More Marketable…By Taking MKTG 411!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D920548-F85E-0E4F-8E8A-33D330FB7C67}"/>
              </a:ext>
            </a:extLst>
          </p:cNvPr>
          <p:cNvSpPr txBox="1">
            <a:spLocks/>
          </p:cNvSpPr>
          <p:nvPr/>
        </p:nvSpPr>
        <p:spPr>
          <a:xfrm>
            <a:off x="838200" y="1719264"/>
            <a:ext cx="9199970" cy="4348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(And if you’re STILL not bought in…)</a:t>
            </a:r>
          </a:p>
          <a:p>
            <a:r>
              <a:rPr lang="en-US" dirty="0"/>
              <a:t>In-person class!</a:t>
            </a:r>
          </a:p>
          <a:p>
            <a:r>
              <a:rPr lang="en-US" dirty="0"/>
              <a:t>I don’t assume experience with programming</a:t>
            </a:r>
          </a:p>
          <a:p>
            <a:r>
              <a:rPr lang="en-US" dirty="0"/>
              <a:t>What assignments will you be doing? (NO TESTS!)</a:t>
            </a:r>
          </a:p>
          <a:p>
            <a:pPr lvl="1"/>
            <a:r>
              <a:rPr lang="en-US" dirty="0"/>
              <a:t>Exercises (self-graded)</a:t>
            </a:r>
          </a:p>
          <a:p>
            <a:pPr lvl="1"/>
            <a:r>
              <a:rPr lang="en-US" dirty="0"/>
              <a:t>Quizzes (3)</a:t>
            </a:r>
          </a:p>
          <a:p>
            <a:pPr lvl="1"/>
            <a:r>
              <a:rPr lang="en-US" dirty="0"/>
              <a:t>Projects (3)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D4E58F-D78A-2F42-B3E7-143B43C78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629" y="4643437"/>
            <a:ext cx="1761997" cy="20351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74C0654-9DC2-1D40-BDA6-EA437EF887DD}"/>
              </a:ext>
            </a:extLst>
          </p:cNvPr>
          <p:cNvSpPr txBox="1"/>
          <p:nvPr/>
        </p:nvSpPr>
        <p:spPr>
          <a:xfrm>
            <a:off x="6335686" y="6058455"/>
            <a:ext cx="34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Questions? </a:t>
            </a:r>
            <a:r>
              <a:rPr lang="en-US" u="sng" dirty="0">
                <a:latin typeface="+mj-lt"/>
              </a:rPr>
              <a:t>cameron.bale@byu.edu</a:t>
            </a:r>
          </a:p>
        </p:txBody>
      </p:sp>
    </p:spTree>
    <p:extLst>
      <p:ext uri="{BB962C8B-B14F-4D97-AF65-F5344CB8AC3E}">
        <p14:creationId xmlns:p14="http://schemas.microsoft.com/office/powerpoint/2010/main" val="3789221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4814</TotalTime>
  <Words>341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Wingdings</vt:lpstr>
      <vt:lpstr>Office Theme</vt:lpstr>
      <vt:lpstr>MKTG 411 Marketing Analytics Use data to inform managerial decision-making</vt:lpstr>
      <vt:lpstr>The Theory of Jobs to Be Done</vt:lpstr>
      <vt:lpstr>Areas Where Progress Needs to be Made</vt:lpstr>
      <vt:lpstr>Many Marketers Lack Analytics Skills</vt:lpstr>
      <vt:lpstr>Analytics Skills are Well-Compensated!</vt:lpstr>
      <vt:lpstr>Make Yourself More Marketable…By Taking MKTG 411!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Analytics</dc:title>
  <dc:creator>Marc Dotson</dc:creator>
  <cp:lastModifiedBy>Cameron Bale</cp:lastModifiedBy>
  <cp:revision>17</cp:revision>
  <dcterms:created xsi:type="dcterms:W3CDTF">2020-10-27T20:53:22Z</dcterms:created>
  <dcterms:modified xsi:type="dcterms:W3CDTF">2026-09-02T19:03:49Z</dcterms:modified>
</cp:coreProperties>
</file>